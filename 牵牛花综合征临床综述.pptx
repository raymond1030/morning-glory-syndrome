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29260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牵牛花综合征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Glory Syndrome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临床特征、诊断与管理综述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206240"/>
            <a:ext cx="9144000" cy="868680"/>
          </a:xfrm>
          <a:prstGeom prst="rect">
            <a:avLst/>
          </a:prstGeom>
          <a:solidFill>
            <a:srgbClr val="09413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文献综述报告  |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53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概述与流行病学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定义、命名由来与患病率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411480" cy="41148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病因学与发病机制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4924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胚胎学假说与遗传因素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临床表现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2377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眼部特征与全身系统关联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148840"/>
            <a:ext cx="411480" cy="41148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诊断方法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49240" y="2377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OCT、FFA、MRI等检查手段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鉴别诊断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与相似疾病的区分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并发症与治疗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49240" y="3291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视网膜脱离的处理与多学科管理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预后与预防策略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5156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早期发现与干预措施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977640"/>
            <a:ext cx="411480" cy="41148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典型病例分析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4924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临床案例展示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概述与流行病学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188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疾病定义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牵牛花综合征（Morning Glory Syndrome, MGS）是一种罕见的先天性视盘凹陷性异常，因眼底镜下视盘形态酷似牵牛花而得名。由Kindler于1970年首次描述，以漏斗状视盘凹陷、中央胶质组织增生及视盘周围色素改变为特征。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68880"/>
            <a:ext cx="1920240" cy="54864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8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2.6/10万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患病率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24688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2468880"/>
            <a:ext cx="192024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6032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男女比例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4688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468880"/>
            <a:ext cx="1920240" cy="54864"/>
          </a:xfrm>
          <a:prstGeom prst="rect">
            <a:avLst/>
          </a:prstGeom>
          <a:solidFill>
            <a:srgbClr val="0B5345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5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6344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单侧发病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24688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2468880"/>
            <a:ext cx="192024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~2岁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典型诊断年龄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特殊人群：</a:t>
            </a:r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非裔人群中较少见；家族性CODA约65%为双侧受累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病因学与发病机制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9144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胚裂闭合不全假说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视杯裂闭合异常导致视盘结构发育不完整。但MGS表现为中央凹陷而非下方缺损，与典型缺损不同。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029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73152" cy="9144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中胚层分化异常假说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原始中胚层异常分化，导致后巩膜壁闭合不全和筛板发育不完整（Pollock, 1968）。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5029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00400"/>
            <a:ext cx="73152" cy="9144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神经外胚层发育不良假说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视盘区域神经外胚层发育异常，导致胶质组织异常增生和视网膜血管走行异常。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0B534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遗传学因素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PAX6基因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部分MGS病例相关，非一致性发现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PAX2基因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与肾-视盘综合征相关，表型重叠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MMP19基因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空洞性视盘异常(CODA)家系中发现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大多数病例为散发性，但已有家族性病例报告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眼部临床表现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主要症状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视力下降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最常见首发症状，通常数指~20/200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斜视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约80%患者出现，常为就诊原因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白瞳症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瞳孔区异常反光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眼球震颤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严重病例可出现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特征性眼底表现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描述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F7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视盘扩大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直径明显增大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漏斗状凹陷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后极部球壁锥形凹陷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中央胶质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白色蓬松状胶质团块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色素环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视盘周围环状色素改变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放射状血管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血管从边缘放射状走行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黄斑牵引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黄斑可被纳入凹陷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D1F2E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独特表现：视盘收缩运动 — 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视盘每分钟2-3次、每次4-5秒的节律性收缩，与视盘内平滑肌细胞有关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全身系统关联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中枢神经系统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经蝶基底脑膨出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胼胝体发育不全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Chiari I型畸形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烟雾病（可致卒中）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内分泌系统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垂体发育异常/垂体柄重复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尿崩症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催乳素、TSH异常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生长激素水平异常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4023360" cy="54864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肾脏系统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肾-视盘综合征(PAX2相关)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肾发育不良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继发性高血压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慢性肾病风险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402336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颅面部异常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毛细血管瘤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眼距增宽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唇裂/腭裂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中线面部畸形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诊断方法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078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眼底镜检查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基础诊断方法，直接观察特征性视盘改变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漏斗状凹陷 + 中央胶质 + 色素环 + 放射状血管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084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OCT（光学相干断层扫描）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核心影像学工具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视盘形态 | 视网膜前膜 | 视盘收缩 | 微小裂孔 | 浅层脱离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090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荧光素血管造影（FFA）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评估视网膜血管状态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108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周边无灌注区 | 灌注边界渗漏 | 纤维血管增生 | AV交通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096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/ MRA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4389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全身关联异常评估关键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114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视盘漏斗形态 | 视神经异常 | 巩膜壁不连续 | 排查烟雾病/脑膨出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鉴别诊断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疾病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鉴别要点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关联综合征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视盘缺损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凹陷偏心于下方，上方缘正常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缺乏中央胶质组织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CHARGE、Walker-Warburg、Aicardi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视盘小凹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单个卵圆形灰白色凹陷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颞下象限，1/8~1/4视盘大小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通常无系统关联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视乳头周围葡萄肿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正常视盘位于深凹陷底部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缺乏异常血管和胶质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不伴先天性缺陷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晚期青光眼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杯盘比≥0.9，缘变薄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血管鼻侧化，有眼压升高史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外伤性视神经撕脱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明确外伤史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凹陷内充满血液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主要并发症 — 视网膜脱离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1645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30-38%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患者发生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视网膜脱离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914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发生机制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17520" y="1417320"/>
            <a:ext cx="274320" cy="27432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417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脑脊液渗漏：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蛛网膜下腔与视网膜下腔异常通道，CSF渗入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920240"/>
            <a:ext cx="274320" cy="27432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孔源性机制：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视盘边缘裂隙样裂孔使玻璃体腔与视网膜下腔相通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2423160"/>
            <a:ext cx="274320" cy="27432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377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牵引性机制：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胶质组织收缩牵拉/周边无灌注纤维血管增生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2926080"/>
            <a:ext cx="274320" cy="27432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880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渗出性机制：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少见，新生血管形成与渗出相关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37560"/>
            <a:ext cx="8229600" cy="54864"/>
          </a:xfrm>
          <a:prstGeom prst="rect">
            <a:avLst/>
          </a:prstGeom>
          <a:solidFill>
            <a:srgbClr val="0B53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564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手术治疗方案（玻璃体切割术）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3794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经睫状体平坦部玻璃体切割（PPV）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曲安奈德辅助后玻璃体脱离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视网膜前膜/内界膜剥除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液气交换 + 视网膜下液引流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裂孔周围激光光凝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硅油或长效气体填充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治疗与多学科管理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54864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屈光矫正与弱视治疗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完整睫状肌麻痹验光 → 配镜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遮盖健眼治疗弱视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早期干预改善视力预后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9144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914400"/>
            <a:ext cx="265176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斜视矫正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463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严重斜视手术矫正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改善外观与双眼视功能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术前充分评估眼位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14400"/>
            <a:ext cx="265176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视网膜脱离手术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463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PPV为主要治疗方法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硅油/气体填充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术后密切随访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0B53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多学科协作管理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神经影像学：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脑MRI/MRA排除脑膨出和烟雾病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611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内分泌科：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垂体功能评估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肾脏科：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肾脏超声和肾功能检查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定期随访：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散瞳眼底检查 + 对侧眼监测 + 神经系统评估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预后与预防策略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预后因素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视力预后总体较差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视力通常 ≤ 20/200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高度屈光不正+斜视致弱视常抵抗治疗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30-38%视网膜脱离风险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长期视网膜劈裂致萎缩性改变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许多患儿发现时已有慢性视网膜脱离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积极管理可改善整体预后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屈光矫正最大化残余视功能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定期监测早期发现视网膜脱离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全身筛查管理系统异常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023360" cy="54864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早期发现策略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37760" y="1554480"/>
            <a:ext cx="274320" cy="27432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新生儿筛查：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红光反射检查，筛查异常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057400"/>
            <a:ext cx="274320" cy="27432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924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高危监测：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家族史者详细眼底检查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560320"/>
            <a:ext cx="274320" cy="27432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儿童视力筛查：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3-5岁常规视力检测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3063240"/>
            <a:ext cx="274320" cy="27432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早期干预：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确诊即开始屈光矫正+弱视治疗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3566160"/>
            <a:ext cx="274320" cy="27432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影像排查：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尽早脑MRI/MRA排除颅内异常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4069080"/>
            <a:ext cx="274320" cy="274320"/>
          </a:xfrm>
          <a:prstGeom prst="ellipse">
            <a:avLst/>
          </a:prstGeom>
          <a:solidFill>
            <a:srgbClr val="148F77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遗传咨询：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PAX2/PAX6基因检测评估风险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典型病例分析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73152" cy="128016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病例1：MGS合并视网膜脱离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患者：女，5岁  |  主诉：右眼视力差1年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检查：右眼视盘扩大漏斗状凹陷，中央白色胶质，视盘周围色素紊乱，放射状血管。OCT示后极部浅层视网膜脱离。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5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治疗：玻璃体切割术 + 硅油填充  →  视网膜复位，视力改善至0.1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73152" cy="12801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病例2：MGS合并烟雾病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患者：男，8岁  |  主诉：左眼视力差伴反复头痛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检查：左眼视力CF/50cm，典型MGS眼底。MRA示双侧颈内动脉远端进行性狭窄伴异常血管网。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5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治疗：神经外科血管重建 + 屈光矫正 + 弱视治疗  →  多学科协作管理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703320"/>
            <a:ext cx="73152" cy="12801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病例3：MGS合并基底脑膨出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患者：女，3岁  |  主诉：眼距增宽、鼻根扁平、右眼白瞳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检查：右眼MGS改变。MRI示经蝶基底脑膨出（含视交叉、下丘脑），胼胝体发育不全。生长激素缺乏。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5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治疗：多学科协作管理  →  内分泌替代治疗 + 眼科随访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5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总结与展望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74320" cy="27432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MGS是罕见先天性视盘异常，特征性眼底表现为漏斗状凹陷+中央胶质+色素环+放射状血管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274320" cy="27432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不仅影响视功能，还常合并CNS、内分泌、肾脏等多系统异常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274320" cy="27432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194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视网膜脱离是最重要并发症（30-38%），需定期监测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274320" cy="27432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697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多学科团队协作是优化管理的关键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246120"/>
            <a:ext cx="274320" cy="27432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2004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早期诊断和积极干预可显著改善整体预后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solidFill>
            <a:srgbClr val="09413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未来研究方向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深入探索遗传学基础  |  开发更有效的视网膜脱离防治策略  |  建立多中心注册研究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3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参考文献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Kindler P. Am J Ophthalmol. 1970;69(3):376-384.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Ceynowa DJ, et al. Acta Ophthalmol. 2015;93(2):154-158.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Pollock S. Doc Ophthalmol. 1987;65(4):439-460.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Ellika S, et al. AJNR Am J Neuroradiol. 2013;34(10):2010-2014.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Traboulsi EI, et al. J Pediatr Ophthalmol Strabismus. 1988;25(2):93-98.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Hazlewood RJ, et al. Ophthalmology. 2021;128(11):1630-1638.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Haik BG, et al. Ophthalmology. 1984;91(12):1638-1647.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Chang S, et al. Eye (Lond). 2012;26(4):494-500.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Brodsky MC. Surv Ophthalmol. 1994;39(2):89-112.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Lenhart PD, et al. Am J Ophthalmol. 2006;142(4):644-650.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Parsa CF, et al. J Neuroophthalmol. 2013;33(2):170-173.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Lee BJ, et al. Ophthalmic Genet. 2008;29(2):47-52.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Cennamo G, et al. Ophthalmology. 2010;117(6):1269-1273.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Ho CL, et al. Int Ophthalmol. 2002;24(1):21-24.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5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3474720"/>
            <a:ext cx="274320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欢迎提问与讨论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牵牛花综合征临床综述</dc:title>
  <dc:subject>PptxGenJS Presentation</dc:subject>
  <dc:creator>Raymond</dc:creator>
  <cp:lastModifiedBy>Raymond</cp:lastModifiedBy>
  <cp:revision>1</cp:revision>
  <dcterms:created xsi:type="dcterms:W3CDTF">2026-03-18T21:13:09Z</dcterms:created>
  <dcterms:modified xsi:type="dcterms:W3CDTF">2026-03-18T21:13:09Z</dcterms:modified>
</cp:coreProperties>
</file>